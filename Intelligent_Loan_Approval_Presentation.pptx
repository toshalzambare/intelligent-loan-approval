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72"/>
                </a:solidFill>
                <a:latin typeface="Arial"/>
              </a:rPr>
              <a:t>Top 10 features (Mean Decrease in Impurity)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importance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loan_percent_income</c:v>
                  </c:pt>
                  <c:pt idx="1">
                    <c:v>loan_int_rate</c:v>
                  </c:pt>
                  <c:pt idx="2">
                    <c:v>person_income</c:v>
                  </c:pt>
                  <c:pt idx="3">
                    <c:v>loan_grade_D</c:v>
                  </c:pt>
                  <c:pt idx="4">
                    <c:v>home_RENT</c:v>
                  </c:pt>
                  <c:pt idx="5">
                    <c:v>loan_amnt</c:v>
                  </c:pt>
                  <c:pt idx="6">
                    <c:v>emp_length</c:v>
                  </c:pt>
                  <c:pt idx="7">
                    <c:v>cred_hist_length</c:v>
                  </c:pt>
                  <c:pt idx="8">
                    <c:v>person_age</c:v>
                  </c:pt>
                  <c:pt idx="9">
                    <c:v>home_MORTGAGE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0.2064</c:v>
                </c:pt>
                <c:pt idx="1">
                  <c:v>0.1283</c:v>
                </c:pt>
                <c:pt idx="2">
                  <c:v>0.1222</c:v>
                </c:pt>
                <c:pt idx="3">
                  <c:v>0.0758</c:v>
                </c:pt>
                <c:pt idx="4">
                  <c:v>0.0642</c:v>
                </c:pt>
                <c:pt idx="5">
                  <c:v>0.0545</c:v>
                </c:pt>
                <c:pt idx="6">
                  <c:v>0.0421</c:v>
                </c:pt>
                <c:pt idx="7">
                  <c:v>0.0327</c:v>
                </c:pt>
                <c:pt idx="8">
                  <c:v>0.0307</c:v>
                </c:pt>
                <c:pt idx="9">
                  <c:v>0.0267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D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80.65</c:v>
                </c:pt>
                <c:pt idx="1">
                  <c:v>90.18</c:v>
                </c:pt>
                <c:pt idx="2">
                  <c:v>92.49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(default) %</c:v>
                </c:pt>
              </c:strCache>
            </c:strRef>
          </c:tx>
          <c:spPr>
            <a:solidFill>
              <a:srgbClr val="E0A52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</c:v>
                </c:pt>
                <c:pt idx="1">
                  <c:v>76.5</c:v>
                </c:pt>
                <c:pt idx="2">
                  <c:v>80.6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 %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86.2</c:v>
                </c:pt>
                <c:pt idx="1">
                  <c:v>88.3</c:v>
                </c:pt>
                <c:pt idx="2">
                  <c:v>92.9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full-stack ML app that predicts loan default risk and explains each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credit evaluation is slow and inconsistent. The system automates it and explains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request left to right. The scaler, encoder and model are loaded from .pkl files so nothing is retrained per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Kaggle Credit Risk dataset. Target 1 means the borrower defaulted, which the app treats as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SMOTE is applied to the training set only, so the test set stays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bagging, random feature subsets, Gini impurity and probability averaging.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class is default. 349 missed defaulters is the costly error; 79 false alarms only cost lost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Gini importance is a global view; SHAP explains one applicant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are checked against the test set: default rate rises sharply from Approved to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experiment run on the same split. Random Forest wins on all three metrics. Present this as an additional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limits shows understanding. Each future item maps to one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Loan Approval &amp; Credit Risk Prediction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 ·  Random Forest  ·  SHAP explainability  ·  FastAPI + Streamlit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33832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24B5A"/>
          </a:solidFill>
          <a:ln w="12700">
            <a:solidFill>
              <a:srgbClr val="1C627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92.49%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33832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24B5A"/>
          </a:solidFill>
          <a:ln w="12700">
            <a:solidFill>
              <a:srgbClr val="1C627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0.9293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33832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24B5A"/>
          </a:solidFill>
          <a:ln w="12700">
            <a:solidFill>
              <a:srgbClr val="1C627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receive thousands of applications. Manual review is slow, inconsistent and hard to scale.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classifier on historical loans to predict default, then serve it through an API and a dashboard with probability, risk level and per-applicant explanations.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1463040"/>
            <a:ext cx="411480" cy="41148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664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default risk (approval probability above 80%)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2606040"/>
            <a:ext cx="411480" cy="4114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2807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risk: send to a human reviewer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3749040"/>
            <a:ext cx="411480" cy="41148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950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default (probability of default 50% or more)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426464" cy="21031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41732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1460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enters details; charts render the result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20240" y="2194560"/>
            <a:ext cx="201168" cy="27432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57984" y="1280160"/>
            <a:ext cx="1426464" cy="21031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60904" y="141732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6090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249424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/predict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249424" y="251460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types and ranges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21024" y="2194560"/>
            <a:ext cx="201168" cy="27432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58768" y="1280160"/>
            <a:ext cx="1426464" cy="21031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61688" y="141732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616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50208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950208" y="251460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OneHotEncoder, same as training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21808" y="2194560"/>
            <a:ext cx="201168" cy="27432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59552" y="1280160"/>
            <a:ext cx="1426464" cy="21031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62472" y="141732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6247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50992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SHAP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50992" y="251460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predict_proba, then TreeExplainer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022592" y="2194560"/>
            <a:ext cx="201168" cy="27432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60336" y="1280160"/>
            <a:ext cx="1426464" cy="21031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763256" y="141732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6325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351776" y="196596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51776" y="251460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approval %, risk level, top 6 drivers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artifacts in backend/model/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" y="40690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loan_model.pkl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2542032" y="40690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542032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26864" y="40690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26864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encoder.pkl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711696" y="40690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11696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feature_columns.pkl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32,581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19656"/>
            <a:ext cx="237744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rows, 11 input features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383280" y="1280160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28,501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819656"/>
            <a:ext cx="237744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dropping nulls and duplicates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1280160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21.7%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819656"/>
            <a:ext cx="237744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that defaulted (target = 1)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(7)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0175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annual income, employment length, loan amount, interest rate, loan-to-income ratio, credit history length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4688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(4), 19 one-hot columns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0175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(4 values), loan intent (6), loan grade A to G (7), prior default on file (2)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55448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28600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 and duplicates: 32,581 to 28,501 rows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25980" y="1188720"/>
            <a:ext cx="155448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63140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631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6314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63140" y="228600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7 numeric columns (mean 0, std 1)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794760" y="1188720"/>
            <a:ext cx="155448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31920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931920" y="228600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on 4 categorical columns: 26 features total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63540" y="1188720"/>
            <a:ext cx="155448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00700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007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0070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00700" y="228600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80/20: 22,800 train, 5,701 test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132320" y="1188720"/>
            <a:ext cx="155448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69480" y="1325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694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6948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228600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creates synthetic defaulters in train only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classes after SMOTE:  </a:t>
            </a:r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17,850 / 4,950  to  17,850 / 17,850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Random Forest Works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554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100 trees trains on a random sample of rows drawn with replacement.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node a tree sees only a random subset of features and picks the split that most reduces Gini impurity.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trees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749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applicant goes down all 100 trees. Their leaf probabilities are averaged; 50% or more means default.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0B3C49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8064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06440" y="17373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1 − Σ pₖ²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pure node, 0.5 = 50/50 mix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1188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repay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971800" y="1188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repaid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defaulted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463040" y="150876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63040" y="1600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4384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71800" y="150876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71800" y="1600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297180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63040" y="26060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63040" y="2697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971800" y="26060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71800" y="2697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889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297180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840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Always-approve baseline: 78.3% accuracy. The model adds about 14 points.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11887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800600" y="1280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92.49%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4800600" y="1792224"/>
            <a:ext cx="1691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720840" y="11887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858000" y="1280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0.918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1792224"/>
            <a:ext cx="1691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92% of "default" calls are right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23317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80060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0.718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4800600" y="2935224"/>
            <a:ext cx="1691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catches 72% of defaulters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720840" y="23317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85800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0.806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2935224"/>
            <a:ext cx="1691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balance of precision and recall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663440" y="34747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4800600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0.9293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4800600" y="4078224"/>
            <a:ext cx="1691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ranking quality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720840" y="34747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6858000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0.982</a:t>
            </a:r>
            <a:endParaRPr lang="en-US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858000" y="4078224"/>
            <a:ext cx="1691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good borrowers approved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Decision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size relative to income is the strongest signal.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grade is split over several dummy columns, so grade overall matters more than 7.6%.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favors continuous features, so SHAP is the fairer per-case view.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Tiers &amp; SHAP Explainability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32588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probability under 20%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3,124 test loans  ·  3.4% defaulted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46888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468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96596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probability 20% to 50%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1,609 test loans  ·  15.2% defaulted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4747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361188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611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probability 50% or more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6596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968 test loans  ·  91.8% defaulted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23560" y="118872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0B3C49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8521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17373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exact Shapley values for the forest.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gets a signed contribution; they sum to the applicant's score.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are flipped so positive means pushes toward approval.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6 drivers are returned and drawn as Plotly charts.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SMOTE Check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ablation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SMOTE: accuracy 92.88%, precision 0.955, recall 0.705, AUC 0.933.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SMOTE: recall +1.3 pts, precision −3.7 pts, no AUC gain.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is a simpler lever for recall.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Random Forest is trained in the repo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(age 144, 123 years employed) not filtered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grade and interest rate are set by the lender after risk review, so they are partly circular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threshold misses 349 defaulters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scores, not calibrated chances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5DF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XGBoost / LightGBM with cross-validation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threshold: at 0.4 recall rises to 0.76 with precision 0.82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class weights instead of SMOTE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probabilities; add debt-to-income and credit score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monitoring and a model registry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01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scaling, encoding, SMOTE, training and export, reused identically at inference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honest results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61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92.49% accuracy and 0.9293 ROC-AUC, with a clear view of its trade-offs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21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Flagged / Rejected tiers with SHAP reasons for every applicant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Loan Approval</dc:title>
  <dc:subject>PptxGenJS Presentation</dc:subject>
  <dc:creator>PptxGenJS</dc:creator>
  <cp:lastModifiedBy>PptxGenJS</cp:lastModifiedBy>
  <cp:revision>1</cp:revision>
  <dcterms:created xsi:type="dcterms:W3CDTF">2026-09-24T14:32:40Z</dcterms:created>
  <dcterms:modified xsi:type="dcterms:W3CDTF">2026-09-24T14:32:40Z</dcterms:modified>
</cp:coreProperties>
</file>